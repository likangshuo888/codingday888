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28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各位评委好，我带来的作品叫「校园链」，一个跑在自研区块链上的校园信誉体系。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一句话概括：把校园里三类真实行为——志愿服务、二手交易、经费资助——全部搬上链，沉淀成每个人可验证的信誉。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这套系统不是概念演示，而是完整可运行的：有学生端前台、有平台管控后台、有真实的三节点区块链网络。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接下来我会从为什么做、有什么功能、三个技术亮点、以及运行原理四个部分介绍。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这一页讲问题的来源：校园里三个高频场景都存在信任缺口。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第一是二手交易：买卖双方没有信用数据，纠纷无法仲裁。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第二是履历证明：志愿时长和获奖记录分散、易伪造，评优时要反复开证明。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第三是经费发放：助学金审批不透明，学生无法监督。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三者的共同根因是记录没有可信载体，而区块链正好解决这个问题。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这一页是功能全景，回答“这个系统能做什么”。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学生端是使用入口，覆盖三大类场景：市集做交易、志愿服务做履历、社团竞赛和资助做荣誉与权益。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平台端是管控入口，仅供平台方查看：诚信榜、流水、订单和资助审批。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两端通过同一条区块链互通，学生端上传什么，控制台就能看到什么。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强调一点：控制台只是查看与审批，不参与篡改，所有数据都来自链上。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第一个技术亮点：身份与签名。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学生用学号注册后，系统为每个人生成一对 RSA 密钥，公钥就是链上身份。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之后每一次发布、购买、打卡、申请都带着本人的私钥签名，别人无法伪造。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任何节点拿到行为数据，都能用公钥验证签名，确认这条行为确实是本人发出的。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这解决的是“记录是谁做的、能不能抵赖”的问题。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第二个亮点是信誉体系：所有行为按规则加权计分。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关键设计是权重差异化——卖家成交 15 分高于买家 5 分，因为完成交易对平台信任贡献更大。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竞赛获奖 20 分最高，鼓励学术与创新；志愿服务按小时累积，体现长期投入。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等级公开：青铜、白银、黄金，在市集条目、任务列表、账本和控制台全可见。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演示数据里小明 55 分已是白银，小红 21 分青铜，全部由链上行为自动算出。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第三个技术亮点是默克尔树批量哈希。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每个区块把全部行为算成叶子哈希，逐层两两配对，最终收敛成一个根哈希，写入区块头。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这样做的价值：验证一整块数据只需比对根哈希，效率极高；任何一条行为被篡改，根立刻对不上。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我们还实现了证明接口，能对任意一条行为给出最短验证路径，供审计与展示。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现场可以演示：改一个行为的值，区块根哈希立即变化。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这一页讲行为从发起到上链的完整链路，是系统运行原理的核心。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第一步，学生在端上操作，系统用本人私钥生成数字签名，行为记录诞生。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第二步，行为通过 P2P 协议广播到全网所有节点，人人可见。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第三步，每个节点独立验证签名与行为类型，非法行为直接拒绝。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第四五步，平台点击打包，行为池全部进区块并计算默克尔根，广播后全网追加。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这一页讲共识机制与网络拓扑。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系统采用权益证明 PoS：节点质押越多，被选中出块的概率越高，无需消耗算力。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我们的映射设计：质押权重对应信誉权重，高信誉节点优先出块，与信誉产品主线一致。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三个节点通过 P2P 全互联，任何节点收到行为都会广播给另外两个。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每个节点独立验证区块并持有完整账本，单点故障不影响数据安全。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这一页介绍技术实现，展示项目是真正可运行的工程。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整个区块链核心全部用 Python 手写，没有依赖现成区块链框架。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服务层用 Flask 提供 REST API，网络层用 Socket 实现 P2P 广播。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前端是原生 HTML，学生端五个模块、控制台有平台管控面板。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右侧表格列出核心模块：区块、默克尔树、钱包、API、前端。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最后一页做总结，用四个结论串起整个产品。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学号即链上身份，注册生成钱包，行为全部带签名。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行为变信誉，志愿闲置社团竞赛资助按规则计分。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链上可信，默克尔哈希加 PoS 共识加全网广播，不可篡改。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下一步接入一卡通实名、扩展行为类型、跨校互认联盟链，让信誉体系走出演示。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092" flipH="false" flipV="false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D132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3" id="3"/>
          <p:cNvSpPr txBox="true"/>
          <p:nvPr/>
        </p:nvSpPr>
        <p:spPr>
          <a:xfrm rot="0" flipH="false" flipV="false">
            <a:off x="762000" y="6985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CAMPUS CHAIN // 区块链自由创作比赛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62000" y="1905000"/>
            <a:ext cx="889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校园链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762000" y="3048000"/>
            <a:ext cx="914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链上校园信誉体系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62000" y="3810000"/>
            <a:ext cx="990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7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一个身份、三类行为、一套信誉 —— 把校园里的真实行为搬上区块链，让诚信可积累、可验证、可兑换权益。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414000" y="1905000"/>
            <a:ext cx="1016000" cy="1016000"/>
          </a:xfrm>
          <a:prstGeom prst="rect">
            <a:avLst/>
          </a:prstGeom>
        </p:spPr>
      </p:pic>
      <p:cxnSp>
        <p:nvCxnSpPr>
          <p:cNvPr name="Connector 8" id="8"/>
          <p:cNvCxnSpPr/>
          <p:nvPr/>
        </p:nvCxnSpPr>
        <p:spPr>
          <a:xfrm rot="-4092" flipH="false" flipV="false">
            <a:off x="762004" y="5708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FD7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762000" y="59055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v1.0 | Python 自研 PoS 区块链 | 2026-10-11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5715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校园里的信任，靠什么背书？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62000" y="13716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三个每天都在发生的场景，都卡在同一个问题上：记录不可信、不可查。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202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FD7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762000" y="2286000"/>
            <a:ext cx="152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2540000" y="2311400"/>
            <a:ext cx="838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二手交易没有信用背书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2540000" y="2768600"/>
            <a:ext cx="838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卖家货不对板、买家放鸽子，交易全凭口头承诺，事后无据可查。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4092" flipH="false" flipV="false">
            <a:off x="762004" y="3359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FD7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762000" y="3619500"/>
            <a:ext cx="152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2540000" y="3644900"/>
            <a:ext cx="838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履历证明只能靠“开证明”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2540000" y="4102100"/>
            <a:ext cx="838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志愿时长、社团任职、竞赛获奖散落各处，纸质证明易伪造、难追溯。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4092" flipH="false" flipV="false">
            <a:off x="762004" y="4692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FD7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 txBox="true"/>
          <p:nvPr/>
        </p:nvSpPr>
        <p:spPr>
          <a:xfrm rot="0" flipH="false" flipV="false">
            <a:off x="762000" y="4953000"/>
            <a:ext cx="152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2540000" y="4978400"/>
            <a:ext cx="838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经费发放不透明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2540000" y="5435600"/>
            <a:ext cx="838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助学金与活动经费的申请、审批、发放过程黑箱，结果难以复核公示。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4092" flipH="false" flipV="false">
            <a:off x="762004" y="6089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FD7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 txBox="true"/>
          <p:nvPr/>
        </p:nvSpPr>
        <p:spPr>
          <a:xfrm rot="0" flipH="false" flipV="false">
            <a:off x="762000" y="62611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解法：把“行为”本身写进区块链 —— 让记录不可篡改、来源可验证、过程可追溯。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508000"/>
            <a:ext cx="1066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产品功能全景：一端记录，一端管控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62000" y="1244600"/>
            <a:ext cx="1066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学生端覆盖三类行为的全部入口，平台端实时接收所有链上记录。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4826000" cy="3810000"/>
          </a:xfrm>
          <a:prstGeom prst="roundRect">
            <a:avLst>
              <a:gd name="adj" fmla="val 1333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66800" y="2108200"/>
            <a:ext cx="330200" cy="330200"/>
          </a:xfrm>
          <a:prstGeom prst="rect">
            <a:avLst/>
          </a:prstGeom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1524000" y="2108200"/>
            <a:ext cx="381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学生端前台（/app）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66800" y="2667000"/>
            <a:ext cx="4191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闲置市集：二手书、自行车、数码、生活品自由买卖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志愿服务：打卡计时、发布任务、接单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社团竞赛：任职与获奖记录上链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经费资助：申请提交与进度查询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链上账本：全部行为按签名归档</a:t>
            </a:r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248400" y="3086100"/>
            <a:ext cx="965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&lt;-&gt;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112000" y="1905000"/>
            <a:ext cx="4318000" cy="3810000"/>
          </a:xfrm>
          <a:prstGeom prst="roundRect">
            <a:avLst>
              <a:gd name="adj" fmla="val 1333"/>
            </a:avLst>
          </a:prstGeom>
          <a:solidFill>
            <a:srgbClr val="0D1326">
              <a:alpha val="100000"/>
            </a:srgbClr>
          </a:solidFill>
          <a:ln w="12700" cmpd="sng" cap="flat">
            <a:solidFill>
              <a:srgbClr val="0D132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416800" y="2108200"/>
            <a:ext cx="330200" cy="330200"/>
          </a:xfrm>
          <a:prstGeom prst="rect">
            <a:avLst/>
          </a:prstGeom>
        </p:spPr>
      </p:pic>
      <p:sp>
        <p:nvSpPr>
          <p:cNvPr name="AutoShape 11" id="11"/>
          <p:cNvSpPr txBox="true"/>
          <p:nvPr/>
        </p:nvSpPr>
        <p:spPr>
          <a:xfrm rot="0" flipH="false" flipV="false">
            <a:off x="7874000" y="2108200"/>
            <a:ext cx="330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F2F4F8"/>
                </a:solidFill>
                <a:latin typeface="Noto Sans SC"/>
                <a:ea typeface="Noto Sans SC"/>
                <a:cs typeface="Noto Sans SC"/>
                <a:sym typeface="Noto Sans SC"/>
              </a:rPr>
              <a:t>平台管控控制台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7416800" y="2667000"/>
            <a:ext cx="3683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学生诚信榜：全员信誉分与等级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行为流水：全平台行为实时同步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市集订单：在售与成交状态总览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资助审批：通过即链上发放、可驳回</a:t>
            </a:r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62000" y="5969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两端信息互通：学生端每一条操作实时进入控制台；控制台审批结果回写学生端。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508000"/>
            <a:ext cx="1066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亮点一 · 学号即链上身份，行为必须本人签名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62000" y="1244600"/>
            <a:ext cx="889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用密码学解决“这是谁做的”：身份唯一、行为可验、事后无法抵赖。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9046" flipH="false" flipV="false">
            <a:off x="762008" y="1835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FD7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762000" y="2032000"/>
            <a:ext cx="889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778000" y="20574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注册即生成链上钱包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778000" y="2489200"/>
            <a:ext cx="381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学号注册后生成 RSA 密钥对，公钥即链上唯一身份标识。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046" flipH="false" flipV="false">
            <a:off x="762008" y="3168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FD7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762000" y="3365500"/>
            <a:ext cx="889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778000" y="33909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每笔行为本人私钥签名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778000" y="3822700"/>
            <a:ext cx="381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发布、购买、打卡、申请都带数字签名，无法伪造、无法抵赖。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9046" flipH="false" flipV="false">
            <a:off x="762008" y="4502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FD7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 txBox="true"/>
          <p:nvPr/>
        </p:nvSpPr>
        <p:spPr>
          <a:xfrm rot="0" flipH="false" flipV="false">
            <a:off x="762000" y="4699000"/>
            <a:ext cx="889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778000" y="47244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全网公钥验签可校验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778000" y="5156200"/>
            <a:ext cx="381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任何节点都能用公钥验证签名来源，冒名顶替在链上无处遁形。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8594" flipH="false" flipV="false">
            <a:off x="6350008" y="1898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 txBox="true"/>
          <p:nvPr/>
        </p:nvSpPr>
        <p:spPr>
          <a:xfrm rot="0" flipH="false" flipV="false">
            <a:off x="6350000" y="14986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身份与签名链路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6350000" y="21590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学号注册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42969" flipH="false" flipV="false">
            <a:off x="7493040" y="2724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name="AutoShape 20" id="20"/>
          <p:cNvSpPr txBox="true"/>
          <p:nvPr/>
        </p:nvSpPr>
        <p:spPr>
          <a:xfrm rot="0" flipH="false" flipV="false">
            <a:off x="8763000" y="2159000"/>
            <a:ext cx="266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生成钱包密钥对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42969" flipH="false" flipV="false">
            <a:off x="10160040" y="2724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name="AutoShape 22" id="22"/>
          <p:cNvSpPr txBox="true"/>
          <p:nvPr/>
        </p:nvSpPr>
        <p:spPr>
          <a:xfrm rot="0" flipH="false" flipV="false">
            <a:off x="6350000" y="3302000"/>
            <a:ext cx="508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public key = 链上身份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private key = 行为签名权</a:t>
            </a:r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6350000" y="4191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行为 + 私钥签名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5328390" flipH="false" flipV="false">
            <a:off x="8585200" y="5022916"/>
            <a:ext cx="60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name="AutoShape 25" id="25"/>
          <p:cNvSpPr txBox="true"/>
          <p:nvPr/>
        </p:nvSpPr>
        <p:spPr>
          <a:xfrm rot="0" flipH="false" flipV="false">
            <a:off x="6350000" y="53975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全网用公钥验签 → 确认来源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6350000" y="60706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签名验证通过，行为才进入全网广播与打包。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508000"/>
            <a:ext cx="1066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亮点二 · 行为加权成信誉，诚信等级人人可见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62000" y="1244600"/>
            <a:ext cx="965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信誉分从链上行为自动计算，等级公开：市集、任务、账本、控制台全部展示。</a:t>
            </a:r>
            <a:endParaRPr lang="en-US" sz="1100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62000" y="1841500"/>
          <a:ext cx="6096000" cy="419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810000"/>
                <a:gridCol w="2286000"/>
              </a:tblGrid>
              <a:tr h="5461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2F4F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链上行为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2F4F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信誉分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志愿打卡 / 接单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 分 / 小时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发布闲置 / 志愿任务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 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买家成交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 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卖家成交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15 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社团任职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 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竞赛获奖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 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资助审批发放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 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name="Connector 5" id="5"/>
          <p:cNvCxnSpPr/>
          <p:nvPr/>
        </p:nvCxnSpPr>
        <p:spPr>
          <a:xfrm rot="-10417" flipH="false" flipV="false">
            <a:off x="7239010" y="189865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FD7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7239000" y="2032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诚信等级（所有人可见）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7239000" y="2540000"/>
            <a:ext cx="4191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青铜 &lt; 50 分　白银 50-99 分　黄金 100 分及以上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7239000" y="32385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当前链上演示数据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7239000" y="3810000"/>
            <a:ext cx="4191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小明 20240001　55 分 · 白银（5 条行为）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小红 20240002　21 分 · 青铜（4 条行为）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7239000" y="4699000"/>
            <a:ext cx="4191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诚信分影响交易信任：买家优先选择高信誉卖家，高信誉学生解锁接单与交易优先权。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7239000" y="5588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数据来源：链上行为流水实时计算，非人工录入。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508000"/>
            <a:ext cx="1066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亮点三 · 默克尔树批量哈希：一改全现形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62000" y="1244600"/>
            <a:ext cx="1066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区块内所有行为打包成一颗哈希树，任意一条被篡改，根哈希立即暴露。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62000" y="1778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默克尔树结构（示意）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159000" y="2222500"/>
            <a:ext cx="2540000" cy="558800"/>
          </a:xfrm>
          <a:prstGeom prst="roundRect">
            <a:avLst>
              <a:gd name="adj" fmla="val 909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2159000" y="23241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2F4F8"/>
                </a:solidFill>
                <a:latin typeface="Roboto Mono"/>
                <a:ea typeface="Roboto Mono"/>
                <a:cs typeface="Roboto Mono"/>
                <a:sym typeface="Roboto Mono"/>
              </a:rPr>
              <a:t>Root = H(H12 + H34)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9330804" flipH="false" flipV="false">
            <a:off x="1457808" y="3086111"/>
            <a:ext cx="152933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8" id="8"/>
          <p:cNvCxnSpPr/>
          <p:nvPr/>
        </p:nvCxnSpPr>
        <p:spPr>
          <a:xfrm rot="1680403" flipH="false" flipV="false">
            <a:off x="3857815" y="3086115"/>
            <a:ext cx="130142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762000" y="3403600"/>
            <a:ext cx="1524000" cy="558800"/>
          </a:xfrm>
          <a:prstGeom prst="roundRect">
            <a:avLst>
              <a:gd name="adj" fmla="val 9090"/>
            </a:avLst>
          </a:prstGeom>
          <a:solidFill>
            <a:srgbClr val="BFD7FF">
              <a:alpha val="100000"/>
            </a:srgbClr>
          </a:solidFill>
          <a:ln w="12700" cmpd="sng" cap="flat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762000" y="35052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H12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3403600"/>
            <a:ext cx="1524000" cy="558800"/>
          </a:xfrm>
          <a:prstGeom prst="roundRect">
            <a:avLst>
              <a:gd name="adj" fmla="val 9090"/>
            </a:avLst>
          </a:prstGeom>
          <a:solidFill>
            <a:srgbClr val="BFD7FF">
              <a:alpha val="100000"/>
            </a:srgbClr>
          </a:solidFill>
          <a:ln w="12700" cmpd="sng" cap="flat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4572000" y="35052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H34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7897881" flipH="false" flipV="false">
            <a:off x="576579" y="4375176"/>
            <a:ext cx="113279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4" id="14"/>
          <p:cNvCxnSpPr/>
          <p:nvPr/>
        </p:nvCxnSpPr>
        <p:spPr>
          <a:xfrm rot="2825038" flipH="false" flipV="false">
            <a:off x="2100627" y="4375176"/>
            <a:ext cx="113279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5" id="15"/>
          <p:cNvCxnSpPr/>
          <p:nvPr/>
        </p:nvCxnSpPr>
        <p:spPr>
          <a:xfrm rot="7897881" flipH="false" flipV="false">
            <a:off x="4132579" y="4375176"/>
            <a:ext cx="113279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6" id="16"/>
          <p:cNvCxnSpPr/>
          <p:nvPr/>
        </p:nvCxnSpPr>
        <p:spPr>
          <a:xfrm rot="2825038" flipH="false" flipV="false">
            <a:off x="5656627" y="4375176"/>
            <a:ext cx="113279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381000" y="4800600"/>
            <a:ext cx="1397000" cy="5588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381000" y="4902200"/>
            <a:ext cx="139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H(行为1)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2349500" y="4800600"/>
            <a:ext cx="1397000" cy="5588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2349500" y="4902200"/>
            <a:ext cx="139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H(行为2)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000500" y="4800600"/>
            <a:ext cx="1397000" cy="5588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4000500" y="4902200"/>
            <a:ext cx="139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H(行为3)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969000" y="4800600"/>
            <a:ext cx="1397000" cy="5588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5969000" y="4902200"/>
            <a:ext cx="139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H(行为4)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762000" y="5524500"/>
            <a:ext cx="660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实际区块为 9 笔行为：奇数叶自动补齐，逐层两两哈希，收敛为一个根。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11459" flipH="false" flipV="false">
            <a:off x="7620011" y="18986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FD7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 txBox="true"/>
          <p:nvPr/>
        </p:nvSpPr>
        <p:spPr>
          <a:xfrm rot="0" flipH="false" flipV="false">
            <a:off x="7620000" y="2095500"/>
            <a:ext cx="381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批量哈希：9 类行为一棵树</a:t>
            </a:r>
            <a:endParaRPr lang="en-US" sz="1100"/>
          </a:p>
        </p:txBody>
      </p:sp>
      <p:sp>
        <p:nvSpPr>
          <p:cNvPr name="AutoShape 28" id="28"/>
          <p:cNvSpPr txBox="true"/>
          <p:nvPr/>
        </p:nvSpPr>
        <p:spPr>
          <a:xfrm rot="0" flipH="false" flipV="false">
            <a:off x="7620000" y="28575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同一区块内所有行为一起哈希，出块时只写一个根，轻量且可批量校验。</a:t>
            </a:r>
            <a:endParaRPr lang="en-US" sz="1100"/>
          </a:p>
        </p:txBody>
      </p:sp>
      <p:sp>
        <p:nvSpPr>
          <p:cNvPr name="AutoShape 29" id="29"/>
          <p:cNvSpPr txBox="true"/>
          <p:nvPr/>
        </p:nvSpPr>
        <p:spPr>
          <a:xfrm rot="0" flipH="false" flipV="false">
            <a:off x="7620000" y="3810000"/>
            <a:ext cx="381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防篡改：一改全现形</a:t>
            </a:r>
            <a:endParaRPr lang="en-US" sz="1100"/>
          </a:p>
        </p:txBody>
      </p:sp>
      <p:sp>
        <p:nvSpPr>
          <p:cNvPr name="AutoShape 30" id="30"/>
          <p:cNvSpPr txBox="true"/>
          <p:nvPr/>
        </p:nvSpPr>
        <p:spPr>
          <a:xfrm rot="0" flipH="false" flipV="false">
            <a:off x="7620000" y="4572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任何一条行为被改动，其哈希链路上溯，根哈希立即不一致，全网拒绝该区块。</a:t>
            </a:r>
            <a:endParaRPr lang="en-US" sz="1100"/>
          </a:p>
        </p:txBody>
      </p:sp>
      <p:sp>
        <p:nvSpPr>
          <p:cNvPr name="AutoShape 31" id="31"/>
          <p:cNvSpPr txBox="true"/>
          <p:nvPr/>
        </p:nvSpPr>
        <p:spPr>
          <a:xfrm rot="0" flipH="false" flipV="false">
            <a:off x="7620000" y="5397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可验证证明</a:t>
            </a:r>
            <a:endParaRPr lang="en-US" sz="1100"/>
          </a:p>
        </p:txBody>
      </p:sp>
      <p:sp>
        <p:nvSpPr>
          <p:cNvPr name="AutoShape 32" id="32"/>
          <p:cNvSpPr txBox="true"/>
          <p:nvPr/>
        </p:nvSpPr>
        <p:spPr>
          <a:xfrm rot="0" flipH="false" flipV="false">
            <a:off x="7620000" y="5905500"/>
            <a:ext cx="381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提供证明接口：任意一条行为都能给出最短验证路径，证明它确实在区块内。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508000"/>
            <a:ext cx="1066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运行原理 · 一条行为如何上链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62000" y="1244600"/>
            <a:ext cx="1066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从学生点击按钮到行为写入区块，全程五步，每步都有校验与广播。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1625600" cy="7874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762000" y="2032000"/>
            <a:ext cx="1625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STEP 1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62000" y="2336800"/>
            <a:ext cx="1625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发起签名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74721" flipH="false" flipV="false">
            <a:off x="2387669" y="2292350"/>
            <a:ext cx="58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3022600" y="1905000"/>
            <a:ext cx="1625600" cy="7874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3022600" y="2032000"/>
            <a:ext cx="1625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STEP 2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3022600" y="2336800"/>
            <a:ext cx="1625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广播全网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74721" flipH="false" flipV="false">
            <a:off x="4648269" y="2292350"/>
            <a:ext cx="58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5283200" y="1905000"/>
            <a:ext cx="1625600" cy="7874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5283200" y="2032000"/>
            <a:ext cx="1625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STEP 3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5283200" y="2336800"/>
            <a:ext cx="1625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节点验证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74721" flipH="false" flipV="false">
            <a:off x="6908869" y="2292350"/>
            <a:ext cx="58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7543800" y="1905000"/>
            <a:ext cx="1625600" cy="7874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7543800" y="2032000"/>
            <a:ext cx="1625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STEP 4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7543800" y="2336800"/>
            <a:ext cx="1625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打包出块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74721" flipH="false" flipV="false">
            <a:off x="9169469" y="2292350"/>
            <a:ext cx="58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9804400" y="1905000"/>
            <a:ext cx="1625600" cy="7874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9804400" y="2032000"/>
            <a:ext cx="1625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STEP 5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9804400" y="2336800"/>
            <a:ext cx="1625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写入链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762000" y="2895600"/>
            <a:ext cx="16256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私钥签名生成行为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3022600" y="2895600"/>
            <a:ext cx="16256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P2P 同步全部节点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5283200" y="2895600"/>
            <a:ext cx="16256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验签与类型校验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7543800" y="2895600"/>
            <a:ext cx="16256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行为池入块算根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9804400" y="2895600"/>
            <a:ext cx="16256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广播后全网追加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4092" flipH="false" flipV="false">
            <a:off x="762004" y="418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FD7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 txBox="true"/>
          <p:nvPr/>
        </p:nvSpPr>
        <p:spPr>
          <a:xfrm rot="0" flipH="false" flipV="false">
            <a:off x="762000" y="45085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用户视角：发布闲置 → 状态“待上链” → 控制台打包 → 状态变“已上链”</a:t>
            </a:r>
            <a:endParaRPr lang="en-US" sz="1100"/>
          </a:p>
        </p:txBody>
      </p:sp>
      <p:sp>
        <p:nvSpPr>
          <p:cNvPr name="AutoShape 30" id="30"/>
          <p:cNvSpPr txBox="true"/>
          <p:nvPr/>
        </p:nvSpPr>
        <p:spPr>
          <a:xfrm rot="0" flipH="false" flipV="false">
            <a:off x="762000" y="51435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行为先进入全网行为池等待打包；平台点击“打包行为上链”，全部行为一次性入块并广播。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账本中每一条记录都带“已上链”标识，代表它已通过全网校验、永久可追溯。</a:t>
            </a:r>
          </a:p>
        </p:txBody>
      </p:sp>
      <p:sp>
        <p:nvSpPr>
          <p:cNvPr name="AutoShape 31" id="31"/>
          <p:cNvSpPr txBox="true"/>
          <p:nvPr/>
        </p:nvSpPr>
        <p:spPr>
          <a:xfrm rot="0" flipH="false" flipV="false">
            <a:off x="762000" y="61976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实测链路：注册 -&gt; 发布 -&gt; 购买 -&gt; 接单 -&gt; 审批 -&gt; 打包 -&gt; 账本核验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508000"/>
            <a:ext cx="1066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运行原理 · PoS 共识与三节点网络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62000" y="1244600"/>
            <a:ext cx="1066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区块链由三个全互联节点组成：每个节点都存着完整账本，任何一条行为全网同步。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62000" y="18415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PoS：质押权重决定出块权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762000" y="2286000"/>
            <a:ext cx="4572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权益证明（Proof of Stake）：质押越多、出块概率越高，不需要比拼算力。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62000" y="3302000"/>
            <a:ext cx="4572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本实现把“质押权重”映射为“信誉权重”，高信誉节点获得出块机会，与产品主线呼应。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762000" y="4318000"/>
            <a:ext cx="4572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每个节点独立验证区块，持完整账本；单点故障不影响全网数据。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762000" y="5461000"/>
            <a:ext cx="4572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Test.py 实测：bob(质押10) 出块 11 次，alice(质押100) 出块 89 次，权重与出块比吻合。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7639" flipH="false" flipV="false">
            <a:off x="5715007" y="1835150"/>
            <a:ext cx="571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FD7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 txBox="true"/>
          <p:nvPr/>
        </p:nvSpPr>
        <p:spPr>
          <a:xfrm rot="0" flipH="false" flipV="false">
            <a:off x="5715000" y="1524000"/>
            <a:ext cx="571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三节点 P2P 拓扑（当前运行实例）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4010040" flipH="false" flipV="false">
            <a:off x="8618428" y="3003583"/>
            <a:ext cx="112737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2" id="12"/>
          <p:cNvCxnSpPr/>
          <p:nvPr/>
        </p:nvCxnSpPr>
        <p:spPr>
          <a:xfrm rot="10028696" flipH="false" flipV="false">
            <a:off x="5918191" y="4921252"/>
            <a:ext cx="416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3" id="13"/>
          <p:cNvCxnSpPr/>
          <p:nvPr/>
        </p:nvCxnSpPr>
        <p:spPr>
          <a:xfrm rot="-4342846" flipH="false" flipV="false">
            <a:off x="5004214" y="3905238"/>
            <a:ext cx="314878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7366000" y="1905000"/>
            <a:ext cx="1524000" cy="711200"/>
          </a:xfrm>
          <a:prstGeom prst="roundRect">
            <a:avLst>
              <a:gd name="adj" fmla="val 7142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366000" y="20574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2F4F8"/>
                </a:solidFill>
                <a:latin typeface="Roboto Mono"/>
                <a:ea typeface="Roboto Mono"/>
                <a:cs typeface="Roboto Mono"/>
                <a:sym typeface="Roboto Mono"/>
              </a:rPr>
              <a:t>节点 1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7366000" y="2362200"/>
            <a:ext cx="1524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:10001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509000" y="3556000"/>
            <a:ext cx="1524000" cy="711200"/>
          </a:xfrm>
          <a:prstGeom prst="roundRect">
            <a:avLst>
              <a:gd name="adj" fmla="val 7142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8509000" y="37084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2F4F8"/>
                </a:solidFill>
                <a:latin typeface="Roboto Mono"/>
                <a:ea typeface="Roboto Mono"/>
                <a:cs typeface="Roboto Mono"/>
                <a:sym typeface="Roboto Mono"/>
              </a:rPr>
              <a:t>节点 2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8509000" y="4013200"/>
            <a:ext cx="1524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:10002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461000" y="5461000"/>
            <a:ext cx="1524000" cy="711200"/>
          </a:xfrm>
          <a:prstGeom prst="roundRect">
            <a:avLst>
              <a:gd name="adj" fmla="val 7142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5461000" y="56134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2F4F8"/>
                </a:solidFill>
                <a:latin typeface="Roboto Mono"/>
                <a:ea typeface="Roboto Mono"/>
                <a:cs typeface="Roboto Mono"/>
                <a:sym typeface="Roboto Mono"/>
              </a:rPr>
              <a:t>节点 3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5461000" y="5918200"/>
            <a:ext cx="1524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:10003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6350000" y="38100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全互联 · 全网同步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508000"/>
            <a:ext cx="1066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 · 从零实现的可运行区块链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62000" y="1244600"/>
            <a:ext cx="1066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不依赖任何现成区块链框架，全部核心代码手写，可直接运行、可演示。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62000" y="1841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实现方式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762000" y="2349500"/>
            <a:ext cx="4191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链核心：纯 Python 实现区块、交易、钱包、共识，无外部链依赖。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62000" y="3175000"/>
            <a:ext cx="4191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服务层：Flask 提供 REST API，前端与链通过 HTTP 通信。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762000" y="4000500"/>
            <a:ext cx="4191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网络层：SocketCommunication 实现 P2P 广播与区块同步。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762000" y="4826000"/>
            <a:ext cx="4191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前端：学生端与控制台均为原生 HTML + JS，零框架。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762000" y="57404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运行：python Main.py localhost 10001 5000（三个节点）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7161" flipH="false" flipV="false">
            <a:off x="5334007" y="1835150"/>
            <a:ext cx="609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FD7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 txBox="true"/>
          <p:nvPr/>
        </p:nvSpPr>
        <p:spPr>
          <a:xfrm rot="0" flipH="false" flipV="false">
            <a:off x="5334000" y="1524000"/>
            <a:ext cx="609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核心模块清单</a:t>
            </a:r>
            <a:endParaRPr lang="en-US" sz="1100"/>
          </a:p>
        </p:txBody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5334000" y="2095500"/>
          <a:ext cx="6096000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4064000"/>
              </a:tblGrid>
              <a:tr h="4445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2F4F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2F4F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职责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Block / Blockchain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区块结构、哈希链、PoS 出块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MerkleTree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批量哈希、证明生成与验证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Wallet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公私钥生成、行为签名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NodeAPI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学生端 + 平台 + 链三组 REST API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student / dashboard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学生端 5 模块、控制台管控面板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13" id="13"/>
          <p:cNvSpPr txBox="true"/>
          <p:nvPr/>
        </p:nvSpPr>
        <p:spPr>
          <a:xfrm rot="0" flipH="false" flipV="false">
            <a:off x="5334000" y="5207000"/>
            <a:ext cx="609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API 覆盖：注册、发布、购买、志愿、社团、竞赛、资助、信誉、账本、链查询与打包。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5334000" y="5969000"/>
            <a:ext cx="609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行为类型 10 类；数据为内存账本，演示数据可复现。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508000"/>
            <a:ext cx="1066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总结 · 校园链上信誉体系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62000" y="1524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一句话：一个身份 · 三类行为 · 一套信誉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62000" y="2159000"/>
            <a:ext cx="660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651000" y="2235200"/>
            <a:ext cx="368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学号即链上身份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651000" y="2540000"/>
            <a:ext cx="3683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注册生成钱包，私钥签名，全网可验。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762000" y="3200400"/>
            <a:ext cx="660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651000" y="3276600"/>
            <a:ext cx="368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行为变信誉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651000" y="3581400"/>
            <a:ext cx="3683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志愿、闲置、社团竞赛、资助按规则计分、分级。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762000" y="4241800"/>
            <a:ext cx="660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651000" y="4318000"/>
            <a:ext cx="368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链上可信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651000" y="4622800"/>
            <a:ext cx="3683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默克尔批量哈希、PoS 共识、全网广播，不可篡改。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62000" y="5283200"/>
            <a:ext cx="660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651000" y="5359400"/>
            <a:ext cx="368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闭环价值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651000" y="5664200"/>
            <a:ext cx="3683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评优证明、免押额度、资助审批全链可追溯。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5390953" flipH="false" flipV="false">
            <a:off x="2921000" y="3930658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FD7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 txBox="true"/>
          <p:nvPr/>
        </p:nvSpPr>
        <p:spPr>
          <a:xfrm rot="0" flipH="false" flipV="false">
            <a:off x="5842000" y="1524000"/>
            <a:ext cx="533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展望 · 下一步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5842000" y="2108200"/>
            <a:ext cx="533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接入校园一卡通，学号身份实名认证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5842000" y="2565400"/>
            <a:ext cx="533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扩展行为类型：评奖评优、宿舍评比、学术活动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5842000" y="3022600"/>
            <a:ext cx="533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跨校互认：多校联盟链，信誉随学生流动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5842000" y="3479800"/>
            <a:ext cx="533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多端覆盖：小程序、移动端 H5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8185" flipH="false" flipV="false">
            <a:off x="5842008" y="40576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FD7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 txBox="true"/>
          <p:nvPr/>
        </p:nvSpPr>
        <p:spPr>
          <a:xfrm rot="0" flipH="false" flipV="false">
            <a:off x="5842000" y="4318000"/>
            <a:ext cx="5334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项目已完整实现并实测运行：学生端、平台控制台、三节点链、默克尔树、信誉规则全部打通。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5842000" y="5080000"/>
            <a:ext cx="533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演示账号：20240001 小明（信誉 55 · 白银）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